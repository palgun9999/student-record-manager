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jpg" ContentType="image/jpg"/>
  <Override PartName="/ppt/media/image7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85" r:id="rId6"/>
    <p:sldId id="274" r:id="rId7"/>
    <p:sldId id="271" r:id="rId8"/>
    <p:sldId id="269" r:id="rId9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68" d="100"/>
          <a:sy n="68" d="100"/>
        </p:scale>
        <p:origin x="1530" y="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7.jp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7.jp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7.jp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7.jp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406962"/>
            <a:ext cx="4610910" cy="6286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8B965C-0568-6E5A-3827-403AC96B38E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79182" y="3602214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  <p:sp>
        <p:nvSpPr>
          <p:cNvPr id="9" name="Google Shape;36;p1">
            <a:extLst>
              <a:ext uri="{FF2B5EF4-FFF2-40B4-BE49-F238E27FC236}">
                <a16:creationId xmlns:a16="http://schemas.microsoft.com/office/drawing/2014/main" id="{AF239FDD-8BA5-6E83-2BBE-037B39FB6B4C}"/>
              </a:ext>
            </a:extLst>
          </p:cNvPr>
          <p:cNvSpPr txBox="1"/>
          <p:nvPr/>
        </p:nvSpPr>
        <p:spPr>
          <a:xfrm>
            <a:off x="1414726" y="1143000"/>
            <a:ext cx="6849568" cy="1466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 Oriented Programming Using C++ P</a:t>
            </a:r>
            <a:r>
              <a:rPr lang="en-US" sz="2800" b="1" i="0" u="none" strike="noStrike" cap="non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roject</a:t>
            </a:r>
            <a:r>
              <a:rPr lang="en-US" sz="2800" b="1" i="0" u="none" strike="noStrike" cap="none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800" b="1" i="0" u="none" strike="noStrike" cap="non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Review-</a:t>
            </a:r>
            <a:r>
              <a:rPr 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</a:t>
            </a:r>
            <a:endParaRPr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Google Shape;38;p1">
            <a:extLst>
              <a:ext uri="{FF2B5EF4-FFF2-40B4-BE49-F238E27FC236}">
                <a16:creationId xmlns:a16="http://schemas.microsoft.com/office/drawing/2014/main" id="{ECB1697E-6D2E-9725-1BC4-86CC6AB4971D}"/>
              </a:ext>
            </a:extLst>
          </p:cNvPr>
          <p:cNvSpPr txBox="1"/>
          <p:nvPr/>
        </p:nvSpPr>
        <p:spPr>
          <a:xfrm>
            <a:off x="-533598" y="2913757"/>
            <a:ext cx="10746216" cy="70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/>
            <a:r>
              <a:rPr sz="2400" b="1">
                <a:latin typeface="Bahnschrift SemiBold SemiConden"/>
              </a:rPr>
              <a:t>STUDENT RECORD MANAGEMENT SYSTEM</a:t>
            </a:r>
            <a:endParaRPr lang="en-US" sz="3000" b="1" u="none" strike="noStrike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7" name="Google Shape;37;p1">
            <a:extLst>
              <a:ext uri="{FF2B5EF4-FFF2-40B4-BE49-F238E27FC236}">
                <a16:creationId xmlns:a16="http://schemas.microsoft.com/office/drawing/2014/main" id="{2D013390-E80C-F5EF-65D7-A94C6A61D9BA}"/>
              </a:ext>
            </a:extLst>
          </p:cNvPr>
          <p:cNvSpPr/>
          <p:nvPr/>
        </p:nvSpPr>
        <p:spPr>
          <a:xfrm>
            <a:off x="3962400" y="4818556"/>
            <a:ext cx="4038600" cy="180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defRPr sz="1400" b="1">
                <a:latin typeface="Bahnschrift SemiBold SemiConden"/>
              </a:defRPr>
            </a:pPr>
            <a:r>
              <a:t>Presented by:</a:t>
            </a:r>
          </a:p>
          <a:p>
            <a:pPr>
              <a:defRPr sz="1300" b="0">
                <a:latin typeface="Bahnschrift SemiBold SemiConden"/>
              </a:defRPr>
            </a:pPr>
            <a:r>
              <a:t> D.R. PALGUN – 25B11AI241</a:t>
            </a:r>
          </a:p>
          <a:p>
            <a:pPr>
              <a:defRPr sz="1300" b="0">
                <a:latin typeface="Bahnschrift SemiBold SemiConden"/>
              </a:defRPr>
            </a:pPr>
            <a:r>
              <a:t> K. BALA ADITYA – 25B11AI581</a:t>
            </a:r>
          </a:p>
          <a:p>
            <a:pPr>
              <a:defRPr sz="1300" b="0">
                <a:latin typeface="Bahnschrift SemiBold SemiConden"/>
              </a:defRPr>
            </a:pPr>
            <a:r>
              <a:t> G. DILEEP – 25B11AI361</a:t>
            </a:r>
          </a:p>
          <a:p>
            <a:pPr>
              <a:defRPr sz="1300" b="0">
                <a:latin typeface="Bahnschrift SemiBold SemiConden"/>
              </a:defRPr>
            </a:pPr>
            <a:r>
              <a:t> M. MOHITH NAIK – 25B11AI765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8220" y="1497893"/>
            <a:ext cx="7123780" cy="394851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800" b="1" dirty="0"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PROJECT OVERVIEW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800" b="1" dirty="0"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COMPLETED MODULES</a:t>
            </a:r>
            <a:endParaRPr sz="2800" b="1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800" b="1" spc="50" dirty="0"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FUNCTIONS 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800" b="1" spc="50" dirty="0"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INPUTS &amp; OUTPUTS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800" b="1" spc="50" dirty="0"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C++ CONCEPTS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800" b="1" spc="50" dirty="0"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INDIVIDUAL CONTRIBUTION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0CE660-071F-321D-0D5B-255789F64C9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79182" y="3602214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286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72971" y="325191"/>
            <a:ext cx="3138319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19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1F55BA-986F-654A-5E2D-6EB3BA46572D}"/>
              </a:ext>
            </a:extLst>
          </p:cNvPr>
          <p:cNvSpPr txBox="1"/>
          <p:nvPr/>
        </p:nvSpPr>
        <p:spPr>
          <a:xfrm>
            <a:off x="491320" y="979572"/>
            <a:ext cx="907576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b="1">
                <a:latin typeface="Bahnschrift SemiBold SemiConden"/>
              </a:rPr>
              <a:t>Student Record Management System</a:t>
            </a:r>
          </a:p>
          <a:p>
            <a:r>
              <a:rPr sz="1200" b="0">
                <a:latin typeface="Bahnschrift SemiBold SemiConden"/>
              </a:rPr>
              <a:t>• A comprehensive academic management system built in modern Object-Oriented C++ (C++17) with dual access: interactive CMD Console and responsive Web Portal.</a:t>
            </a:r>
          </a:p>
          <a:p>
            <a:r>
              <a:rPr sz="1200" b="0">
                <a:latin typeface="Bahnschrift SemiBold SemiConden"/>
              </a:rPr>
              <a:t>• Provides 5 integrated modules: Student Directory, Academic Results, Attendance Manager, Fee Ledger, and Report Generation.</a:t>
            </a:r>
          </a:p>
          <a:p>
            <a:r>
              <a:rPr sz="1200" b="0">
                <a:latin typeface="Bahnschrift SemiBold SemiConden"/>
              </a:rPr>
              <a:t>• Administrators can manage student admissions, enter subject marks, record fee payments, and log daily attendance.</a:t>
            </a:r>
          </a:p>
          <a:p>
            <a:r>
              <a:rPr sz="1200" b="0">
                <a:latin typeface="Bahnschrift SemiBold SemiConden"/>
              </a:rPr>
              <a:t>• Embedded multi-threaded Winsock2 HTTP Web Server provides instant REST API endpoints without external web servers.</a:t>
            </a:r>
          </a:p>
          <a:p>
            <a:r>
              <a:rPr sz="1200" b="0">
                <a:latin typeface="Bahnschrift SemiBold SemiConden"/>
              </a:rPr>
              <a:t>• Robust file persistence using structured CSV flat-file database repositories for zero-dependency reliability.</a:t>
            </a:r>
          </a:p>
          <a:p>
            <a:r>
              <a:rPr sz="1200" b="0">
                <a:latin typeface="Bahnschrift SemiBold SemiConden"/>
              </a:rPr>
              <a:t>• Interactive 8-choice Command Prompt console coupled with a modern responsive browser interface.</a:t>
            </a:r>
          </a:p>
          <a:p>
            <a:r>
              <a:rPr sz="600" b="0">
                <a:latin typeface="Bahnschrift SemiBold SemiConden"/>
              </a:rPr>
              <a:t/>
            </a:r>
          </a:p>
          <a:p>
            <a:r>
              <a:rPr sz="1500" b="1">
                <a:latin typeface="Bahnschrift SemiBold SemiConden"/>
              </a:rPr>
              <a:t>Architecture</a:t>
            </a:r>
          </a:p>
          <a:p>
            <a:r>
              <a:rPr sz="1200" b="1">
                <a:latin typeface="Bahnschrift SemiBold SemiConden"/>
              </a:rPr>
              <a:t>Client UI (Web Portal / CMD Console) → Winsock2 HTTP Server &amp; Router → Service Layer → CSV File Repository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B5147C-233B-E977-3991-4FB0E3299E3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79182" y="3602214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505200" y="33282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 MODULES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851B59-AD5A-81AD-7D42-C1CD5E589B58}"/>
              </a:ext>
            </a:extLst>
          </p:cNvPr>
          <p:cNvSpPr txBox="1"/>
          <p:nvPr/>
        </p:nvSpPr>
        <p:spPr>
          <a:xfrm>
            <a:off x="723900" y="1216578"/>
            <a:ext cx="86106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>
                <a:latin typeface="Bahnschrift SemiBold SemiConden"/>
              </a:rPr>
              <a:t>Student &amp; Admin Module</a:t>
            </a:r>
          </a:p>
          <a:p>
            <a:r>
              <a:rPr sz="1100" b="0">
                <a:latin typeface="Bahnschrift SemiBold SemiConden"/>
              </a:rPr>
              <a:t>• Admin Login (admin / admin123) with credential verification</a:t>
            </a:r>
          </a:p>
          <a:p>
            <a:r>
              <a:rPr sz="1100" b="0">
                <a:latin typeface="Bahnschrift SemiBold SemiConden"/>
              </a:rPr>
              <a:t>• Add, view, search, update, and delete student records (Roll No, Name, DOB, Contact, Address, Class)</a:t>
            </a:r>
          </a:p>
          <a:p>
            <a:r>
              <a:rPr sz="1400" b="1">
                <a:latin typeface="Bahnschrift SemiBold SemiConden"/>
              </a:rPr>
              <a:t>Academic Record Module</a:t>
            </a:r>
          </a:p>
          <a:p>
            <a:r>
              <a:rPr sz="1100" b="0">
                <a:latin typeface="Bahnschrift SemiBold SemiConden"/>
              </a:rPr>
              <a:t>• Enter and update semester marks across multiple subjects</a:t>
            </a:r>
          </a:p>
          <a:p>
            <a:r>
              <a:rPr sz="1100" b="0">
                <a:latin typeface="Bahnschrift SemiBold SemiConden"/>
              </a:rPr>
              <a:t>• Automatic calculation of Total Marks, Percentage, Letter Grade (A/B/C/D/F), and CGPA</a:t>
            </a:r>
          </a:p>
          <a:p>
            <a:r>
              <a:rPr sz="1100" b="0">
                <a:latin typeface="Bahnschrift SemiBold SemiConden"/>
              </a:rPr>
              <a:t>• Display formatted academic marksheets and performance summaries</a:t>
            </a:r>
          </a:p>
          <a:p>
            <a:r>
              <a:rPr sz="1400" b="1">
                <a:latin typeface="Bahnschrift SemiBold SemiConden"/>
              </a:rPr>
              <a:t>Attendance &amp; Fee Manager Modules</a:t>
            </a:r>
          </a:p>
          <a:p>
            <a:r>
              <a:rPr sz="1100" b="0">
                <a:latin typeface="Bahnschrift SemiBold SemiConden"/>
              </a:rPr>
              <a:t>• Daily date-wise attendance marking with low-attendance warnings (&lt;75%)</a:t>
            </a:r>
          </a:p>
          <a:p>
            <a:r>
              <a:rPr sz="1100" b="0">
                <a:latin typeface="Bahnschrift SemiBold SemiConden"/>
              </a:rPr>
              <a:t>• Record fee payments with receipts and real-time pending balance calculation</a:t>
            </a:r>
          </a:p>
          <a:p>
            <a:r>
              <a:rPr sz="1400" b="1">
                <a:latin typeface="Bahnschrift SemiBold SemiConden"/>
              </a:rPr>
              <a:t>Report Generator Module</a:t>
            </a:r>
          </a:p>
          <a:p>
            <a:r>
              <a:rPr sz="1100" b="0">
                <a:latin typeface="Bahnschrift SemiBold SemiConden"/>
              </a:rPr>
              <a:t>• Generate Class 10 &amp; B.Tech AIML Topper List with gold/silver rankings</a:t>
            </a:r>
          </a:p>
          <a:p>
            <a:r>
              <a:rPr sz="1100" b="0">
                <a:latin typeface="Bahnschrift SemiBold SemiConden"/>
              </a:rPr>
              <a:t>• One-click CSV report export (class10_report.csv)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2C2271-4259-89E3-4C1F-329C8F3FA3C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79182" y="3602214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08C2C-93B4-0479-9106-4F04104CB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71EDE11C-0246-A240-4A7A-C864D6B408C7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14D0E7F-BBBB-A75A-C257-D8AAE4C9FB8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E868612F-5861-0E24-499B-40C7017EE54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66526C9-2E78-5445-9E46-08AB2109BE0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35D40A83-B843-8CD6-53D3-2F7099AD07D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584C945-0526-FDEE-8EAA-DBEC47941826}"/>
              </a:ext>
            </a:extLst>
          </p:cNvPr>
          <p:cNvSpPr txBox="1"/>
          <p:nvPr/>
        </p:nvSpPr>
        <p:spPr>
          <a:xfrm>
            <a:off x="3276600" y="33282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CPP FUNCTIONS &amp; OUTPUTS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7916A54E-A1CA-8824-8095-607A3985801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B150B7-DCD9-DD87-3A3E-1188DC3F9E69}"/>
              </a:ext>
            </a:extLst>
          </p:cNvPr>
          <p:cNvSpPr txBox="1"/>
          <p:nvPr/>
        </p:nvSpPr>
        <p:spPr>
          <a:xfrm>
            <a:off x="457201" y="1063862"/>
            <a:ext cx="90678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>
                <a:latin typeface="Bahnschrift SemiBold SemiConden"/>
              </a:rPr>
              <a:t>Main C++ Functions</a:t>
            </a:r>
          </a:p>
          <a:p>
            <a:r>
              <a:rPr sz="1050" b="0">
                <a:latin typeface="Bahnschrift SemiBold SemiConden"/>
              </a:rPr>
              <a:t>• addStudent() / updateStudent() / deleteStudent() – CRUD operations on student database</a:t>
            </a:r>
          </a:p>
          <a:p>
            <a:r>
              <a:rPr sz="1050" b="0">
                <a:latin typeface="Bahnschrift SemiBold SemiConden"/>
              </a:rPr>
              <a:t>• addMarks() / calculateTotal() / calculateGrade() – processes marks, grades, and CGPA</a:t>
            </a:r>
          </a:p>
          <a:p>
            <a:r>
              <a:rPr sz="1050" b="0">
                <a:latin typeface="Bahnschrift SemiBold SemiConden"/>
              </a:rPr>
              <a:t>• markAttendance() / getAttendancePercentage() – daily attendance logging &amp; &lt;75% warnings</a:t>
            </a:r>
          </a:p>
          <a:p>
            <a:r>
              <a:rPr sz="1050" b="0">
                <a:latin typeface="Bahnschrift SemiBold SemiConden"/>
              </a:rPr>
              <a:t>• recordFeePayment() / getFeeStatus() – ledger updates and receipt generation</a:t>
            </a:r>
          </a:p>
          <a:p>
            <a:r>
              <a:rPr sz="1050" b="0">
                <a:latin typeface="Bahnschrift SemiBold SemiConden"/>
              </a:rPr>
              <a:t>• generateStudentReport() / printTopperList() – generates rank list and topper summary</a:t>
            </a:r>
          </a:p>
          <a:p>
            <a:r>
              <a:rPr sz="1050" b="0">
                <a:latin typeface="Bahnschrift SemiBold SemiConden"/>
              </a:rPr>
              <a:t>• login() / checkAccessLevel() – authenticates admin and validates permissions</a:t>
            </a:r>
          </a:p>
          <a:p>
            <a:r>
              <a:rPr sz="1050" b="0">
                <a:latin typeface="Bahnschrift SemiBold SemiConden"/>
              </a:rPr>
              <a:t>• HttpServer::start() / Router::addRoute() – multi-threaded web server &amp; REST routing</a:t>
            </a:r>
          </a:p>
          <a:p>
            <a:r>
              <a:rPr sz="1300" b="1">
                <a:latin typeface="Bahnschrift SemiBold SemiConden"/>
              </a:rPr>
              <a:t>Backend Flow</a:t>
            </a:r>
          </a:p>
          <a:p>
            <a:r>
              <a:rPr sz="1050" b="1">
                <a:latin typeface="Bahnschrift SemiBold SemiConden"/>
              </a:rPr>
              <a:t>User Request (Web / CMD) → Router &amp; HTTP Request / CLI Controller → Service Layer → CSV Repository → Output</a:t>
            </a:r>
          </a:p>
          <a:p>
            <a:r>
              <a:rPr sz="1300" b="1">
                <a:latin typeface="Bahnschrift SemiBold SemiConden"/>
              </a:rPr>
              <a:t>Outputs</a:t>
            </a:r>
          </a:p>
          <a:p>
            <a:r>
              <a:rPr sz="1050" b="0">
                <a:latin typeface="Bahnschrift SemiBold SemiConden"/>
              </a:rPr>
              <a:t>• Interactive 8-choice CMD Terminal + Live Web Portal at http://localhost:8080</a:t>
            </a:r>
          </a:p>
          <a:p>
            <a:r>
              <a:rPr sz="1050" b="0">
                <a:latin typeface="Bahnschrift SemiBold SemiConden"/>
              </a:rPr>
              <a:t>• Auto-calculated Grades, CGPA &amp; Marksheets</a:t>
            </a:r>
          </a:p>
          <a:p>
            <a:r>
              <a:rPr sz="1050" b="0">
                <a:latin typeface="Bahnschrift SemiBold SemiConden"/>
              </a:rPr>
              <a:t>• Detailed Fee Receipts with ₹ Pending Balances</a:t>
            </a:r>
          </a:p>
          <a:p>
            <a:r>
              <a:rPr sz="1050" b="0">
                <a:latin typeface="Bahnschrift SemiBold SemiConden"/>
              </a:rPr>
              <a:t>• Exported CSV Reports (class10_report.csv &amp; B.Tech AIML)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5D3653-ECCB-A748-92B0-8895BA83D5F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79182" y="3602214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69034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388956" y="145956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657600" y="393771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CPP CONCEPTS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356818" y="1439216"/>
            <a:ext cx="91681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>
                <a:latin typeface="Bahnschrift SemiBold SemiConden"/>
              </a:rPr>
              <a:t>Relevant C++ Concepts</a:t>
            </a:r>
          </a:p>
          <a:p>
            <a:r>
              <a:rPr sz="1050" b="1">
                <a:latin typeface="Bahnschrift SemiBold SemiConden"/>
              </a:rPr>
              <a:t>• Classes &amp; Objects – </a:t>
            </a:r>
            <a:r>
              <a:rPr sz="1050" b="0">
                <a:latin typeface="Bahnschrift SemiBold SemiConden"/>
              </a:rPr>
              <a:t>Object-oriented modular design: Student, AcademicRecord, AttendanceManager, FeeManager, UserManager, ReportGenerator.</a:t>
            </a:r>
          </a:p>
          <a:p>
            <a:r>
              <a:rPr sz="1050" b="1">
                <a:latin typeface="Bahnschrift SemiBold SemiConden"/>
              </a:rPr>
              <a:t>• Encapsulation &amp; Data Hiding – </a:t>
            </a:r>
            <a:r>
              <a:rPr sz="1050" b="0">
                <a:latin typeface="Bahnschrift SemiBold SemiConden"/>
              </a:rPr>
              <a:t>Private member variables protected with public getters, setters, and business validation rules.</a:t>
            </a:r>
          </a:p>
          <a:p>
            <a:r>
              <a:rPr sz="1050" b="1">
                <a:latin typeface="Bahnschrift SemiBold SemiConden"/>
              </a:rPr>
              <a:t>• Inheritance &amp; Interfaces – </a:t>
            </a:r>
            <a:r>
              <a:rPr sz="1050" b="0">
                <a:latin typeface="Bahnschrift SemiBold SemiConden"/>
              </a:rPr>
              <a:t>Abstract repository interface IStudentRepository implemented by FileStudentRepository.</a:t>
            </a:r>
          </a:p>
          <a:p>
            <a:r>
              <a:rPr sz="1050" b="1">
                <a:latin typeface="Bahnschrift SemiBold SemiConden"/>
              </a:rPr>
              <a:t>• Modern C++ (C++17) &amp; Smart Pointers – </a:t>
            </a:r>
            <a:r>
              <a:rPr sz="1050" b="0">
                <a:latin typeface="Bahnschrift SemiBold SemiConden"/>
              </a:rPr>
              <a:t>Memory safety via std::shared_ptr, std::make_shared, lambda route handlers, and std::atomic&lt;bool&gt;.</a:t>
            </a:r>
          </a:p>
          <a:p>
            <a:r>
              <a:rPr sz="1050" b="1">
                <a:latin typeface="Bahnschrift SemiBold SemiConden"/>
              </a:rPr>
              <a:t>• Standard Template Library (STL) – </a:t>
            </a:r>
            <a:r>
              <a:rPr sz="1050" b="0">
                <a:latin typeface="Bahnschrift SemiBold SemiConden"/>
              </a:rPr>
              <a:t>Extensive use of std::vector, std::map, std::string, std::stringstream, &lt;algorithm&gt;, and &lt;iomanip&gt;.</a:t>
            </a:r>
          </a:p>
          <a:p>
            <a:r>
              <a:rPr sz="1050" b="1">
                <a:latin typeface="Bahnschrift SemiBold SemiConden"/>
              </a:rPr>
              <a:t>• File Streams &amp; CSV Persistence – </a:t>
            </a:r>
            <a:r>
              <a:rPr sz="1050" b="0">
                <a:latin typeface="Bahnschrift SemiBold SemiConden"/>
              </a:rPr>
              <a:t>std::ifstream and std::ofstream for robust structured file reading/writing and database persistence.</a:t>
            </a:r>
          </a:p>
          <a:p>
            <a:r>
              <a:rPr sz="1050" b="1">
                <a:latin typeface="Bahnschrift SemiBold SemiConden"/>
              </a:rPr>
              <a:t>• Multithreading &amp; Networking – </a:t>
            </a:r>
            <a:r>
              <a:rPr sz="1050" b="0">
                <a:latin typeface="Bahnschrift SemiBold SemiConden"/>
              </a:rPr>
              <a:t>std::thread runs Winsock2 HTTP Server concurrently in the background while CMD terminal stays fully interactive.</a:t>
            </a:r>
          </a:p>
          <a:p>
            <a:r>
              <a:rPr sz="1050" b="1">
                <a:latin typeface="Bahnschrift SemiBold SemiConden"/>
              </a:rPr>
              <a:t>• Exception &amp; Error Handling – </a:t>
            </a:r>
            <a:r>
              <a:rPr sz="1050" b="0">
                <a:latin typeface="Bahnschrift SemiBold SemiConden"/>
              </a:rPr>
              <a:t>Safe numeric conversions (std::stoi, std::stod) with try-catch blocks to prevent runtime crashes.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B3B993-084D-C088-98E2-40F68406CB9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79182" y="3602214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3953B3A5-B246-55AD-515B-436ED9F0D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8027" y="470272"/>
            <a:ext cx="3749449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 CONTRIBUTION</a:t>
            </a:r>
            <a:endParaRPr lang="en-IN" sz="19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8D545C-8DE7-1CEC-8A67-EE3EA08B5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205004"/>
              </p:ext>
            </p:extLst>
          </p:nvPr>
        </p:nvGraphicFramePr>
        <p:xfrm>
          <a:off x="620713" y="1593690"/>
          <a:ext cx="8948736" cy="37403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74368">
                  <a:extLst>
                    <a:ext uri="{9D8B030D-6E8A-4147-A177-3AD203B41FA5}">
                      <a16:colId xmlns:a16="http://schemas.microsoft.com/office/drawing/2014/main" val="2775821153"/>
                    </a:ext>
                  </a:extLst>
                </a:gridCol>
                <a:gridCol w="4474368">
                  <a:extLst>
                    <a:ext uri="{9D8B030D-6E8A-4147-A177-3AD203B41FA5}">
                      <a16:colId xmlns:a16="http://schemas.microsoft.com/office/drawing/2014/main" val="361106876"/>
                    </a:ext>
                  </a:extLst>
                </a:gridCol>
              </a:tblGrid>
              <a:tr h="467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Team Member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Individual Contribution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08678"/>
                  </a:ext>
                </a:extLst>
              </a:tr>
              <a:tr h="818193">
                <a:tc>
                  <a:txBody>
                    <a:bodyPr/>
                    <a:lstStyle/>
                    <a:p>
                      <a:pPr>
                        <a:defRPr sz="1100" b="1">
                          <a:latin typeface="Bahnschrift SemiBold SemiConden"/>
                        </a:defRPr>
                      </a:pPr>
                      <a:r>
                        <a:t>Member 1 -&gt; (D.R. PALGUN - 25B11AI241)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Bahnschrift SemiBold SemiConden"/>
                        </a:defRPr>
                      </a:pPr>
                      <a:r>
                        <a:t>Main C++ Program, Winsock2 HTTP Server &amp; REST API Router, Core Architecture &amp;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6292684"/>
                  </a:ext>
                </a:extLst>
              </a:tr>
              <a:tr h="818193">
                <a:tc>
                  <a:txBody>
                    <a:bodyPr/>
                    <a:lstStyle/>
                    <a:p>
                      <a:pPr>
                        <a:defRPr sz="1100" b="1">
                          <a:latin typeface="Bahnschrift SemiBold SemiConden"/>
                        </a:defRPr>
                      </a:pPr>
                      <a:r>
                        <a:t>Member 2 -&gt; (K. BALA ADITYA - 25B11AI581)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Bahnschrift SemiBold SemiConden"/>
                        </a:defRPr>
                      </a:pPr>
                      <a:r>
                        <a:t>Academic Record Module (Marks, Percentage, CGPA), Testing, Debugging &amp; CSV Repository Layer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4102705"/>
                  </a:ext>
                </a:extLst>
              </a:tr>
              <a:tr h="818193">
                <a:tc>
                  <a:txBody>
                    <a:bodyPr/>
                    <a:lstStyle/>
                    <a:p>
                      <a:pPr>
                        <a:defRPr sz="1100" b="1">
                          <a:latin typeface="Bahnschrift SemiBold SemiConden"/>
                        </a:defRPr>
                      </a:pPr>
                      <a:r>
                        <a:t>Member 3 -&gt; (G. DILEEP - 25B11AI361)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Bahnschrift SemiBold SemiConden"/>
                        </a:defRPr>
                      </a:pPr>
                      <a:r>
                        <a:t>Attendance Manager (&lt;75% Warning Logic), Fee Manager (Ledger &amp; Receipts), Project Design &amp;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6300443"/>
                  </a:ext>
                </a:extLst>
              </a:tr>
              <a:tr h="818193">
                <a:tc>
                  <a:txBody>
                    <a:bodyPr/>
                    <a:lstStyle/>
                    <a:p>
                      <a:pPr>
                        <a:defRPr sz="1100" b="1">
                          <a:latin typeface="Bahnschrift SemiBold SemiConden"/>
                        </a:defRPr>
                      </a:pPr>
                      <a:r>
                        <a:t>Member 4 -&gt; (M. MOHITH NAIK - 25B11AI765)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Bahnschrift SemiBold SemiConden"/>
                        </a:defRPr>
                      </a:pPr>
                      <a:r>
                        <a:t>Report Generator (Class Rankings, Topper Lists &amp; CSV Exporter), User Manager, Web UI &amp; Documentation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8505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9400" y="3242587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3288</TotalTime>
  <Words>551</Words>
  <Application>Microsoft Office PowerPoint</Application>
  <PresentationFormat>Custom</PresentationFormat>
  <Paragraphs>87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Bahnschrift SemiBold SemiConden</vt:lpstr>
      <vt:lpstr>Calibri</vt:lpstr>
      <vt:lpstr>Palatino Linotype</vt:lpstr>
      <vt:lpstr>Times New Roman</vt:lpstr>
      <vt:lpstr>Office Theme</vt:lpstr>
      <vt:lpstr>PowerPoint Presentation</vt:lpstr>
      <vt:lpstr>PowerPoint Presentation</vt:lpstr>
      <vt:lpstr>PROJECT OVERVIEW</vt:lpstr>
      <vt:lpstr>PowerPoint Presentation</vt:lpstr>
      <vt:lpstr>PowerPoint Presentation</vt:lpstr>
      <vt:lpstr>PowerPoint Presentation</vt:lpstr>
      <vt:lpstr>INDIVIDUAL CONTRIBUTION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Narasimha Sai</cp:lastModifiedBy>
  <cp:revision>68</cp:revision>
  <cp:lastPrinted>2025-10-14T18:21:49Z</cp:lastPrinted>
  <dcterms:created xsi:type="dcterms:W3CDTF">2025-10-10T08:28:06Z</dcterms:created>
  <dcterms:modified xsi:type="dcterms:W3CDTF">2026-09-27T16:14:03Z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